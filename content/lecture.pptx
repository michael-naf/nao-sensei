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9020" autoAdjust="0"/>
  </p:normalViewPr>
  <p:slideViewPr>
    <p:cSldViewPr snapToGrid="0" snapToObjects="1">
      <p:cViewPr varScale="1">
        <p:scale>
          <a:sx n="76" d="100"/>
          <a:sy n="76" d="100"/>
        </p:scale>
        <p:origin x="135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9644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a:t>
            </a:r>
            <a:r>
              <a:rPr lang="en-US" dirty="0"/>
              <a:t>subject is dinosaurs. Dinosaurs were animals that lived on land a very, very long time ago, long before there were any people.
---
The first dinosaurs appeared about two hundred and thirty million years ago, and they ruled the Earth for more than one hundred and sixty million years. That is a very long time. If the whole story of the dinosaurs were one school day, people would only walk in a few seconds before the bell.
---
Scientists have found more than a thousand different kinds of dinosaur, and they still find new ones almost every year. Today we are going to meet a few of my favourites.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dinosaurs were the biggest animals that have ever walked on land. We call them sauropods, and every single one of them ate plants.
---
[NO-CHECKPOINT]
The biggest sauropods had necks so long that they could reach the leaves right at the top of the tallest trees, like a living crane.
---
And that long neck is exactly why they could grow so enormous. They could stand in one spot and eat all day without taking a single step. A sauropod called Brachiosaurus weighed about as much as ten elephants. It never chewed its food. It swallowed leaves whole, and it swallowed stones too, to help grind everything up inside its stomach.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dinosaur ate plants. Some of them were hunters, and the most famous hunter of all is Tyrannosaurus rex.
---
Tyrannosaurus rex had a head bigger than you are tall, and teeth as long as a banana. It had the strongest bite of any animal that has ever lived on land. But its arms were tiny</a:t>
            </a:r>
            <a:r>
              <a:rPr lang="en-US"/>
              <a:t>, about as long as a grown-up's arm.</a:t>
            </a:r>
            <a:r>
              <a:rPr lang="en-US" dirty="0"/>
              <a:t>
---
Not all the hunters were huge. Velociraptor was only about the size of a turkey. It was covered in feathers, it could run very fast, and it had one big curved claw on each foot.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are a plant-eater and you live next door to a hunter, you need a way to stay safe. Some dinosaurs wore their armour everywhere they went.
---
Triceratops had three sharp horns on its face and a huge shield of bone around its neck. Its head alone was about as long as a bicycle.
---
Stegosaurus had big flat plates standing up along its back, and four long spikes on the end of its tail. It could swing that tail like a club.
---
And Ankylosaurus was covered from head to toe in thick bony plates, even on its eyelids, with a heavy lump of bone at the end of its tail like a hammer.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sixty-six million years ago, something terrible happened. A huge rock from space, called an asteroid, crashed into the Earth. Dust filled the sky and hid the sun for years, so the plants died, and then the animals that ate the plants died too.
---
Almost every dinosaur disappeared. But not quite all of them. One small feathered group survived, and over millions and millions of years, those survivors turned into the birds we see today.
---
So every pigeon on the pavement and every chicken on a farm is a real, living dinosaur. That is the end of my lecture. Thank you very much for listening, and if you have one last question, now is a very good time to ask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D2B"/>
        </a:solidFill>
        <a:effectLst/>
      </p:bgPr>
    </p:bg>
    <p:spTree>
      <p:nvGrpSpPr>
        <p:cNvPr id="1" name=""/>
        <p:cNvGrpSpPr/>
        <p:nvPr/>
      </p:nvGrpSpPr>
      <p:grpSpPr>
        <a:xfrm>
          <a:off x="0" y="0"/>
          <a:ext cx="0" cy="0"/>
          <a:chOff x="0" y="0"/>
          <a:chExt cx="0" cy="0"/>
        </a:xfrm>
      </p:grpSpPr>
      <p:sp>
        <p:nvSpPr>
          <p:cNvPr id="2" name="Text 0"/>
          <p:cNvSpPr/>
          <p:nvPr/>
        </p:nvSpPr>
        <p:spPr>
          <a:xfrm>
            <a:off x="731520" y="1737360"/>
            <a:ext cx="5669280" cy="2377440"/>
          </a:xfrm>
          <a:prstGeom prst="rect">
            <a:avLst/>
          </a:prstGeom>
          <a:noFill/>
          <a:ln/>
        </p:spPr>
        <p:txBody>
          <a:bodyPr wrap="square" rtlCol="0" anchor="ctr"/>
          <a:lstStyle/>
          <a:p>
            <a:pPr marL="0" indent="0">
              <a:lnSpc>
                <a:spcPts val="5400"/>
              </a:lnSpc>
              <a:buNone/>
            </a:pPr>
            <a:r>
              <a:rPr lang="en-US" sz="5400" b="1" dirty="0">
                <a:solidFill>
                  <a:srgbClr val="FFFFFF"/>
                </a:solidFill>
                <a:latin typeface="Bookman Old Style" pitchFamily="34" charset="0"/>
                <a:ea typeface="Bookman Old Style" pitchFamily="34" charset="-122"/>
                <a:cs typeface="Bookman Old Style" pitchFamily="34" charset="-120"/>
              </a:rPr>
              <a:t>MEET THE</a:t>
            </a:r>
            <a:endParaRPr lang="en-US" sz="5400" dirty="0"/>
          </a:p>
          <a:p>
            <a:pPr marL="0" indent="0">
              <a:lnSpc>
                <a:spcPts val="5400"/>
              </a:lnSpc>
              <a:buNone/>
            </a:pPr>
            <a:r>
              <a:rPr lang="en-US" sz="5400" b="1" dirty="0">
                <a:solidFill>
                  <a:srgbClr val="FFFFFF"/>
                </a:solidFill>
                <a:latin typeface="Bookman Old Style" pitchFamily="34" charset="0"/>
                <a:ea typeface="Bookman Old Style" pitchFamily="34" charset="-122"/>
                <a:cs typeface="Bookman Old Style" pitchFamily="34" charset="-120"/>
              </a:rPr>
              <a:t>DINOSAURS</a:t>
            </a:r>
            <a:endParaRPr lang="en-US" sz="5400" dirty="0"/>
          </a:p>
        </p:txBody>
      </p:sp>
      <p:sp>
        <p:nvSpPr>
          <p:cNvPr id="3" name="Text 1"/>
          <p:cNvSpPr/>
          <p:nvPr/>
        </p:nvSpPr>
        <p:spPr>
          <a:xfrm>
            <a:off x="777240" y="4206240"/>
            <a:ext cx="5669280" cy="548640"/>
          </a:xfrm>
          <a:prstGeom prst="rect">
            <a:avLst/>
          </a:prstGeom>
          <a:noFill/>
          <a:ln/>
        </p:spPr>
        <p:txBody>
          <a:bodyPr wrap="square" rtlCol="0" anchor="ctr"/>
          <a:lstStyle/>
          <a:p>
            <a:pPr marL="0" indent="0">
              <a:buNone/>
            </a:pPr>
            <a:r>
              <a:rPr lang="en-US" sz="2200" i="1" dirty="0">
                <a:solidFill>
                  <a:srgbClr val="E8A33D"/>
                </a:solidFill>
                <a:latin typeface="Calibri" pitchFamily="34" charset="0"/>
                <a:ea typeface="Calibri" pitchFamily="34" charset="-122"/>
                <a:cs typeface="Calibri" pitchFamily="34" charset="-120"/>
              </a:rPr>
              <a:t>Giants, hunters, and one very bad day</a:t>
            </a:r>
            <a:endParaRPr lang="en-US" sz="2200" dirty="0"/>
          </a:p>
        </p:txBody>
      </p:sp>
      <p:sp>
        <p:nvSpPr>
          <p:cNvPr id="4" name="Text 2"/>
          <p:cNvSpPr/>
          <p:nvPr/>
        </p:nvSpPr>
        <p:spPr>
          <a:xfrm>
            <a:off x="777240" y="4892040"/>
            <a:ext cx="5669280" cy="457200"/>
          </a:xfrm>
          <a:prstGeom prst="rect">
            <a:avLst/>
          </a:prstGeom>
          <a:noFill/>
          <a:ln/>
        </p:spPr>
        <p:txBody>
          <a:bodyPr wrap="square" rtlCol="0" anchor="ctr"/>
          <a:lstStyle/>
          <a:p>
            <a:pPr marL="0" indent="0">
              <a:buNone/>
            </a:pPr>
            <a:r>
              <a:rPr lang="en-US" sz="1400" dirty="0">
                <a:solidFill>
                  <a:srgbClr val="97BC62"/>
                </a:solidFill>
                <a:latin typeface="Calibri" pitchFamily="34" charset="0"/>
                <a:ea typeface="Calibri" pitchFamily="34" charset="-122"/>
                <a:cs typeface="Calibri" pitchFamily="34" charset="-120"/>
              </a:rPr>
              <a:t>Your teacher today: NAO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48640"/>
            <a:ext cx="7315200" cy="731520"/>
          </a:xfrm>
          <a:prstGeom prst="rect">
            <a:avLst/>
          </a:prstGeom>
          <a:noFill/>
          <a:ln/>
        </p:spPr>
        <p:txBody>
          <a:bodyPr wrap="square" rtlCol="0" anchor="ctr"/>
          <a:lstStyle/>
          <a:p>
            <a:pPr marL="0" indent="0">
              <a:buNone/>
            </a:pPr>
            <a:r>
              <a:rPr lang="en-US" sz="4000" b="1" dirty="0">
                <a:solidFill>
                  <a:srgbClr val="1F3D2B"/>
                </a:solidFill>
                <a:latin typeface="Bookman Old Style" pitchFamily="34" charset="0"/>
                <a:ea typeface="Bookman Old Style" pitchFamily="34" charset="-122"/>
                <a:cs typeface="Bookman Old Style" pitchFamily="34" charset="-120"/>
              </a:rPr>
              <a:t>The Long-Necked Giants</a:t>
            </a:r>
            <a:endParaRPr lang="en-US" sz="4000" dirty="0"/>
          </a:p>
        </p:txBody>
      </p:sp>
      <p:sp>
        <p:nvSpPr>
          <p:cNvPr id="3" name="Text 1"/>
          <p:cNvSpPr/>
          <p:nvPr/>
        </p:nvSpPr>
        <p:spPr>
          <a:xfrm>
            <a:off x="658368" y="1280160"/>
            <a:ext cx="7315200" cy="457200"/>
          </a:xfrm>
          <a:prstGeom prst="rect">
            <a:avLst/>
          </a:prstGeom>
          <a:noFill/>
          <a:ln/>
        </p:spPr>
        <p:txBody>
          <a:bodyPr wrap="square" rtlCol="0" anchor="ctr"/>
          <a:lstStyle/>
          <a:p>
            <a:pPr marL="0" indent="0">
              <a:buNone/>
            </a:pPr>
            <a:r>
              <a:rPr lang="en-US" sz="1800" dirty="0">
                <a:solidFill>
                  <a:srgbClr val="5F7A4A"/>
                </a:solidFill>
                <a:latin typeface="Calibri" pitchFamily="34" charset="0"/>
                <a:ea typeface="Calibri" pitchFamily="34" charset="-122"/>
                <a:cs typeface="Calibri" pitchFamily="34" charset="-120"/>
              </a:rPr>
              <a:t>Sauropods — the biggest animals ever to walk on land</a:t>
            </a:r>
            <a:endParaRPr lang="en-US" sz="1800" dirty="0"/>
          </a:p>
        </p:txBody>
      </p:sp>
      <p:sp>
        <p:nvSpPr>
          <p:cNvPr id="4" name="Shape 2"/>
          <p:cNvSpPr/>
          <p:nvPr/>
        </p:nvSpPr>
        <p:spPr>
          <a:xfrm>
            <a:off x="640080" y="2011680"/>
            <a:ext cx="5577840" cy="1097280"/>
          </a:xfrm>
          <a:prstGeom prst="roundRect">
            <a:avLst>
              <a:gd name="adj" fmla="val 8333"/>
            </a:avLst>
          </a:prstGeom>
          <a:solidFill>
            <a:srgbClr val="F4F7EE"/>
          </a:solidFill>
          <a:ln w="12700">
            <a:solidFill>
              <a:srgbClr val="F4F7EE"/>
            </a:solidFill>
            <a:prstDash val="solid"/>
          </a:ln>
        </p:spPr>
        <p:txBody>
          <a:bodyPr/>
          <a:lstStyle/>
          <a:p>
            <a:endParaRPr lang="en-US"/>
          </a:p>
        </p:txBody>
      </p:sp>
      <p:sp>
        <p:nvSpPr>
          <p:cNvPr id="5" name="Text 3"/>
          <p:cNvSpPr/>
          <p:nvPr/>
        </p:nvSpPr>
        <p:spPr>
          <a:xfrm>
            <a:off x="822960" y="2011680"/>
            <a:ext cx="1463040" cy="1097280"/>
          </a:xfrm>
          <a:prstGeom prst="rect">
            <a:avLst/>
          </a:prstGeom>
          <a:noFill/>
          <a:ln/>
        </p:spPr>
        <p:txBody>
          <a:bodyPr wrap="square" lIns="0" tIns="0" rIns="0" bIns="0" rtlCol="0" anchor="ctr"/>
          <a:lstStyle/>
          <a:p>
            <a:pPr marL="0" indent="0" algn="ctr">
              <a:buNone/>
            </a:pPr>
            <a:r>
              <a:rPr lang="en-US" sz="3600" b="1" dirty="0">
                <a:solidFill>
                  <a:srgbClr val="E8A33D"/>
                </a:solidFill>
                <a:latin typeface="Bookman Old Style" pitchFamily="34" charset="0"/>
                <a:ea typeface="Bookman Old Style" pitchFamily="34" charset="-122"/>
                <a:cs typeface="Bookman Old Style" pitchFamily="34" charset="-120"/>
              </a:rPr>
              <a:t>10</a:t>
            </a:r>
            <a:endParaRPr lang="en-US" sz="3600" dirty="0"/>
          </a:p>
        </p:txBody>
      </p:sp>
      <p:sp>
        <p:nvSpPr>
          <p:cNvPr id="6" name="Text 4"/>
          <p:cNvSpPr/>
          <p:nvPr/>
        </p:nvSpPr>
        <p:spPr>
          <a:xfrm>
            <a:off x="2377440" y="2011680"/>
            <a:ext cx="3657600" cy="1097280"/>
          </a:xfrm>
          <a:prstGeom prst="rect">
            <a:avLst/>
          </a:prstGeom>
          <a:noFill/>
          <a:ln/>
        </p:spPr>
        <p:txBody>
          <a:bodyPr wrap="square" lIns="0" tIns="0" rIns="0" bIns="0" rtlCol="0" anchor="ctr"/>
          <a:lstStyle/>
          <a:p>
            <a:pPr marL="0" indent="0">
              <a:buNone/>
            </a:pPr>
            <a:r>
              <a:rPr lang="en-US" sz="1700" dirty="0">
                <a:solidFill>
                  <a:srgbClr val="22301F"/>
                </a:solidFill>
                <a:latin typeface="Calibri" pitchFamily="34" charset="0"/>
                <a:ea typeface="Calibri" pitchFamily="34" charset="-122"/>
                <a:cs typeface="Calibri" pitchFamily="34" charset="-120"/>
              </a:rPr>
              <a:t>as heavy as ten elephants</a:t>
            </a:r>
            <a:endParaRPr lang="en-US" sz="1700" dirty="0"/>
          </a:p>
        </p:txBody>
      </p:sp>
      <p:sp>
        <p:nvSpPr>
          <p:cNvPr id="7" name="Shape 5"/>
          <p:cNvSpPr/>
          <p:nvPr/>
        </p:nvSpPr>
        <p:spPr>
          <a:xfrm>
            <a:off x="640080" y="3337560"/>
            <a:ext cx="5577840" cy="1097280"/>
          </a:xfrm>
          <a:prstGeom prst="roundRect">
            <a:avLst>
              <a:gd name="adj" fmla="val 8333"/>
            </a:avLst>
          </a:prstGeom>
          <a:solidFill>
            <a:srgbClr val="F4F7EE"/>
          </a:solidFill>
          <a:ln w="12700">
            <a:solidFill>
              <a:srgbClr val="F4F7EE"/>
            </a:solidFill>
            <a:prstDash val="solid"/>
          </a:ln>
        </p:spPr>
        <p:txBody>
          <a:bodyPr/>
          <a:lstStyle/>
          <a:p>
            <a:endParaRPr lang="en-US"/>
          </a:p>
        </p:txBody>
      </p:sp>
      <p:sp>
        <p:nvSpPr>
          <p:cNvPr id="8" name="Text 6"/>
          <p:cNvSpPr/>
          <p:nvPr/>
        </p:nvSpPr>
        <p:spPr>
          <a:xfrm>
            <a:off x="822960" y="3337560"/>
            <a:ext cx="1463040" cy="1097280"/>
          </a:xfrm>
          <a:prstGeom prst="rect">
            <a:avLst/>
          </a:prstGeom>
          <a:noFill/>
          <a:ln/>
        </p:spPr>
        <p:txBody>
          <a:bodyPr wrap="square" lIns="0" tIns="0" rIns="0" bIns="0" rtlCol="0" anchor="ctr"/>
          <a:lstStyle/>
          <a:p>
            <a:pPr marL="0" indent="0" algn="ctr">
              <a:buNone/>
            </a:pPr>
            <a:r>
              <a:rPr lang="en-US" sz="3600" b="1" dirty="0">
                <a:solidFill>
                  <a:srgbClr val="E8A33D"/>
                </a:solidFill>
                <a:latin typeface="Bookman Old Style" pitchFamily="34" charset="0"/>
                <a:ea typeface="Bookman Old Style" pitchFamily="34" charset="-122"/>
                <a:cs typeface="Bookman Old Style" pitchFamily="34" charset="-120"/>
              </a:rPr>
              <a:t>15 m</a:t>
            </a:r>
            <a:endParaRPr lang="en-US" sz="3600" dirty="0"/>
          </a:p>
        </p:txBody>
      </p:sp>
      <p:sp>
        <p:nvSpPr>
          <p:cNvPr id="9" name="Text 7"/>
          <p:cNvSpPr/>
          <p:nvPr/>
        </p:nvSpPr>
        <p:spPr>
          <a:xfrm>
            <a:off x="2377440" y="3337560"/>
            <a:ext cx="3657600" cy="1097280"/>
          </a:xfrm>
          <a:prstGeom prst="rect">
            <a:avLst/>
          </a:prstGeom>
          <a:noFill/>
          <a:ln/>
        </p:spPr>
        <p:txBody>
          <a:bodyPr wrap="square" lIns="0" tIns="0" rIns="0" bIns="0" rtlCol="0" anchor="ctr"/>
          <a:lstStyle/>
          <a:p>
            <a:pPr marL="0" indent="0">
              <a:buNone/>
            </a:pPr>
            <a:r>
              <a:rPr lang="en-US" sz="1700" dirty="0">
                <a:solidFill>
                  <a:srgbClr val="22301F"/>
                </a:solidFill>
                <a:latin typeface="Calibri" pitchFamily="34" charset="0"/>
                <a:ea typeface="Calibri" pitchFamily="34" charset="-122"/>
                <a:cs typeface="Calibri" pitchFamily="34" charset="-120"/>
              </a:rPr>
              <a:t>the longest necks ever measured</a:t>
            </a:r>
            <a:endParaRPr lang="en-US" sz="1700" dirty="0"/>
          </a:p>
        </p:txBody>
      </p:sp>
      <p:sp>
        <p:nvSpPr>
          <p:cNvPr id="10" name="Shape 8"/>
          <p:cNvSpPr/>
          <p:nvPr/>
        </p:nvSpPr>
        <p:spPr>
          <a:xfrm>
            <a:off x="640080" y="4663440"/>
            <a:ext cx="5577840" cy="1097280"/>
          </a:xfrm>
          <a:prstGeom prst="roundRect">
            <a:avLst>
              <a:gd name="adj" fmla="val 8333"/>
            </a:avLst>
          </a:prstGeom>
          <a:solidFill>
            <a:srgbClr val="F4F7EE"/>
          </a:solidFill>
          <a:ln w="12700">
            <a:solidFill>
              <a:srgbClr val="F4F7EE"/>
            </a:solidFill>
            <a:prstDash val="solid"/>
          </a:ln>
        </p:spPr>
        <p:txBody>
          <a:bodyPr/>
          <a:lstStyle/>
          <a:p>
            <a:endParaRPr lang="en-US"/>
          </a:p>
        </p:txBody>
      </p:sp>
      <p:sp>
        <p:nvSpPr>
          <p:cNvPr id="11" name="Text 9"/>
          <p:cNvSpPr/>
          <p:nvPr/>
        </p:nvSpPr>
        <p:spPr>
          <a:xfrm>
            <a:off x="822960" y="4663440"/>
            <a:ext cx="1463040" cy="1097280"/>
          </a:xfrm>
          <a:prstGeom prst="rect">
            <a:avLst/>
          </a:prstGeom>
          <a:noFill/>
          <a:ln/>
        </p:spPr>
        <p:txBody>
          <a:bodyPr wrap="square" lIns="0" tIns="0" rIns="0" bIns="0" rtlCol="0" anchor="ctr"/>
          <a:lstStyle/>
          <a:p>
            <a:pPr marL="0" indent="0" algn="ctr">
              <a:buNone/>
            </a:pPr>
            <a:r>
              <a:rPr lang="en-US" sz="3600" b="1" dirty="0">
                <a:solidFill>
                  <a:srgbClr val="E8A33D"/>
                </a:solidFill>
                <a:latin typeface="Bookman Old Style" pitchFamily="34" charset="0"/>
                <a:ea typeface="Bookman Old Style" pitchFamily="34" charset="-122"/>
                <a:cs typeface="Bookman Old Style" pitchFamily="34" charset="-120"/>
              </a:rPr>
              <a:t>0</a:t>
            </a:r>
            <a:endParaRPr lang="en-US" sz="3600" dirty="0"/>
          </a:p>
        </p:txBody>
      </p:sp>
      <p:sp>
        <p:nvSpPr>
          <p:cNvPr id="12" name="Text 10"/>
          <p:cNvSpPr/>
          <p:nvPr/>
        </p:nvSpPr>
        <p:spPr>
          <a:xfrm>
            <a:off x="2377440" y="4663440"/>
            <a:ext cx="3657600" cy="1097280"/>
          </a:xfrm>
          <a:prstGeom prst="rect">
            <a:avLst/>
          </a:prstGeom>
          <a:noFill/>
          <a:ln/>
        </p:spPr>
        <p:txBody>
          <a:bodyPr wrap="square" lIns="0" tIns="0" rIns="0" bIns="0" rtlCol="0" anchor="ctr"/>
          <a:lstStyle/>
          <a:p>
            <a:pPr marL="0" indent="0">
              <a:buNone/>
            </a:pPr>
            <a:r>
              <a:rPr lang="en-US" sz="1700" dirty="0">
                <a:solidFill>
                  <a:srgbClr val="22301F"/>
                </a:solidFill>
                <a:latin typeface="Calibri" pitchFamily="34" charset="0"/>
                <a:ea typeface="Calibri" pitchFamily="34" charset="-122"/>
                <a:cs typeface="Calibri" pitchFamily="34" charset="-120"/>
              </a:rPr>
              <a:t>chews — they swallowed leaves whole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5486400" y="822960"/>
            <a:ext cx="6035040" cy="731520"/>
          </a:xfrm>
          <a:prstGeom prst="rect">
            <a:avLst/>
          </a:prstGeom>
          <a:noFill/>
          <a:ln/>
        </p:spPr>
        <p:txBody>
          <a:bodyPr wrap="square" rtlCol="0" anchor="ctr"/>
          <a:lstStyle/>
          <a:p>
            <a:pPr marL="0" indent="0">
              <a:buNone/>
            </a:pPr>
            <a:r>
              <a:rPr lang="en-US" sz="4000" b="1" dirty="0">
                <a:solidFill>
                  <a:srgbClr val="1F3D2B"/>
                </a:solidFill>
                <a:latin typeface="Bookman Old Style" pitchFamily="34" charset="0"/>
                <a:ea typeface="Bookman Old Style" pitchFamily="34" charset="-122"/>
                <a:cs typeface="Bookman Old Style" pitchFamily="34" charset="-120"/>
              </a:rPr>
              <a:t>The Hunters</a:t>
            </a:r>
            <a:endParaRPr lang="en-US" sz="4000" dirty="0"/>
          </a:p>
        </p:txBody>
      </p:sp>
      <p:sp>
        <p:nvSpPr>
          <p:cNvPr id="5" name="Shape 3"/>
          <p:cNvSpPr/>
          <p:nvPr/>
        </p:nvSpPr>
        <p:spPr>
          <a:xfrm>
            <a:off x="5486400" y="1993392"/>
            <a:ext cx="384048" cy="384048"/>
          </a:xfrm>
          <a:prstGeom prst="ellipse">
            <a:avLst/>
          </a:prstGeom>
          <a:solidFill>
            <a:srgbClr val="E8A33D"/>
          </a:solidFill>
          <a:ln w="12700">
            <a:solidFill>
              <a:srgbClr val="E8A33D"/>
            </a:solidFill>
            <a:prstDash val="solid"/>
          </a:ln>
        </p:spPr>
        <p:txBody>
          <a:bodyPr/>
          <a:lstStyle/>
          <a:p>
            <a:endParaRPr lang="en-US"/>
          </a:p>
        </p:txBody>
      </p:sp>
      <p:sp>
        <p:nvSpPr>
          <p:cNvPr id="6" name="Text 4"/>
          <p:cNvSpPr/>
          <p:nvPr/>
        </p:nvSpPr>
        <p:spPr>
          <a:xfrm>
            <a:off x="6080760" y="1920240"/>
            <a:ext cx="5486400" cy="548640"/>
          </a:xfrm>
          <a:prstGeom prst="rect">
            <a:avLst/>
          </a:prstGeom>
          <a:noFill/>
          <a:ln/>
        </p:spPr>
        <p:txBody>
          <a:bodyPr wrap="square" lIns="0" tIns="0" rIns="0" bIns="0" rtlCol="0" anchor="ctr"/>
          <a:lstStyle/>
          <a:p>
            <a:pPr marL="0" indent="0">
              <a:buNone/>
            </a:pPr>
            <a:r>
              <a:rPr lang="en-US" sz="2400" b="1" dirty="0">
                <a:solidFill>
                  <a:srgbClr val="22301F"/>
                </a:solidFill>
                <a:latin typeface="Bookman Old Style" pitchFamily="34" charset="0"/>
                <a:ea typeface="Bookman Old Style" pitchFamily="34" charset="-122"/>
                <a:cs typeface="Bookman Old Style" pitchFamily="34" charset="-120"/>
              </a:rPr>
              <a:t>Tyrannosaurus rex</a:t>
            </a:r>
            <a:endParaRPr lang="en-US" sz="2400" dirty="0"/>
          </a:p>
        </p:txBody>
      </p:sp>
      <p:sp>
        <p:nvSpPr>
          <p:cNvPr id="7" name="Text 5"/>
          <p:cNvSpPr/>
          <p:nvPr/>
        </p:nvSpPr>
        <p:spPr>
          <a:xfrm>
            <a:off x="6080760" y="2514600"/>
            <a:ext cx="5394960" cy="1097280"/>
          </a:xfrm>
          <a:prstGeom prst="rect">
            <a:avLst/>
          </a:prstGeom>
          <a:noFill/>
          <a:ln/>
        </p:spPr>
        <p:txBody>
          <a:bodyPr wrap="square" lIns="0" tIns="0" rIns="0" bIns="0" rtlCol="0" anchor="ctr"/>
          <a:lstStyle/>
          <a:p>
            <a:pPr marL="0" indent="0">
              <a:buNone/>
            </a:pPr>
            <a:r>
              <a:rPr lang="en-US" sz="1700" dirty="0">
                <a:solidFill>
                  <a:srgbClr val="3E4C3A"/>
                </a:solidFill>
                <a:latin typeface="Calibri" pitchFamily="34" charset="0"/>
                <a:ea typeface="Calibri" pitchFamily="34" charset="-122"/>
                <a:cs typeface="Calibri" pitchFamily="34" charset="-120"/>
              </a:rPr>
              <a:t>Teeth as long as a banana, and the strongest bite of any animal that ever lived on land.</a:t>
            </a:r>
            <a:endParaRPr lang="en-US" sz="1700" dirty="0"/>
          </a:p>
        </p:txBody>
      </p:sp>
      <p:sp>
        <p:nvSpPr>
          <p:cNvPr id="8" name="Shape 6"/>
          <p:cNvSpPr/>
          <p:nvPr/>
        </p:nvSpPr>
        <p:spPr>
          <a:xfrm>
            <a:off x="5486400" y="4005072"/>
            <a:ext cx="384048" cy="384048"/>
          </a:xfrm>
          <a:prstGeom prst="ellipse">
            <a:avLst/>
          </a:prstGeom>
          <a:solidFill>
            <a:srgbClr val="E8A33D"/>
          </a:solidFill>
          <a:ln w="12700">
            <a:solidFill>
              <a:srgbClr val="E8A33D"/>
            </a:solidFill>
            <a:prstDash val="solid"/>
          </a:ln>
        </p:spPr>
        <p:txBody>
          <a:bodyPr/>
          <a:lstStyle/>
          <a:p>
            <a:endParaRPr lang="en-US"/>
          </a:p>
        </p:txBody>
      </p:sp>
      <p:sp>
        <p:nvSpPr>
          <p:cNvPr id="9" name="Text 7"/>
          <p:cNvSpPr/>
          <p:nvPr/>
        </p:nvSpPr>
        <p:spPr>
          <a:xfrm>
            <a:off x="6080760" y="3931920"/>
            <a:ext cx="5486400" cy="548640"/>
          </a:xfrm>
          <a:prstGeom prst="rect">
            <a:avLst/>
          </a:prstGeom>
          <a:noFill/>
          <a:ln/>
        </p:spPr>
        <p:txBody>
          <a:bodyPr wrap="square" lIns="0" tIns="0" rIns="0" bIns="0" rtlCol="0" anchor="ctr"/>
          <a:lstStyle/>
          <a:p>
            <a:pPr marL="0" indent="0">
              <a:buNone/>
            </a:pPr>
            <a:r>
              <a:rPr lang="en-US" sz="2400" b="1" dirty="0">
                <a:solidFill>
                  <a:srgbClr val="22301F"/>
                </a:solidFill>
                <a:latin typeface="Bookman Old Style" pitchFamily="34" charset="0"/>
                <a:ea typeface="Bookman Old Style" pitchFamily="34" charset="-122"/>
                <a:cs typeface="Bookman Old Style" pitchFamily="34" charset="-120"/>
              </a:rPr>
              <a:t>Velociraptor</a:t>
            </a:r>
            <a:endParaRPr lang="en-US" sz="2400" dirty="0"/>
          </a:p>
        </p:txBody>
      </p:sp>
      <p:sp>
        <p:nvSpPr>
          <p:cNvPr id="10" name="Text 8"/>
          <p:cNvSpPr/>
          <p:nvPr/>
        </p:nvSpPr>
        <p:spPr>
          <a:xfrm>
            <a:off x="6080760" y="4526280"/>
            <a:ext cx="5394960" cy="1097280"/>
          </a:xfrm>
          <a:prstGeom prst="rect">
            <a:avLst/>
          </a:prstGeom>
          <a:noFill/>
          <a:ln/>
        </p:spPr>
        <p:txBody>
          <a:bodyPr wrap="square" lIns="0" tIns="0" rIns="0" bIns="0" rtlCol="0" anchor="ctr"/>
          <a:lstStyle/>
          <a:p>
            <a:pPr marL="0" indent="0">
              <a:buNone/>
            </a:pPr>
            <a:r>
              <a:rPr lang="en-US" sz="1700" dirty="0">
                <a:solidFill>
                  <a:srgbClr val="3E4C3A"/>
                </a:solidFill>
                <a:latin typeface="Calibri" pitchFamily="34" charset="0"/>
                <a:ea typeface="Calibri" pitchFamily="34" charset="-122"/>
                <a:cs typeface="Calibri" pitchFamily="34" charset="-120"/>
              </a:rPr>
              <a:t>Only the size of a turkey, covered in feathers, and very, very fast.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731520"/>
          </a:xfrm>
          <a:prstGeom prst="rect">
            <a:avLst/>
          </a:prstGeom>
          <a:noFill/>
          <a:ln/>
        </p:spPr>
        <p:txBody>
          <a:bodyPr wrap="square" rtlCol="0" anchor="ctr"/>
          <a:lstStyle/>
          <a:p>
            <a:pPr marL="0" indent="0">
              <a:buNone/>
            </a:pPr>
            <a:r>
              <a:rPr lang="en-US" sz="4000" b="1" dirty="0">
                <a:solidFill>
                  <a:srgbClr val="1F3D2B"/>
                </a:solidFill>
                <a:latin typeface="Bookman Old Style" pitchFamily="34" charset="0"/>
                <a:ea typeface="Bookman Old Style" pitchFamily="34" charset="-122"/>
                <a:cs typeface="Bookman Old Style" pitchFamily="34" charset="-120"/>
              </a:rPr>
              <a:t>Armour, Horns and Spikes</a:t>
            </a:r>
            <a:endParaRPr lang="en-US" sz="4000" dirty="0"/>
          </a:p>
        </p:txBody>
      </p:sp>
      <p:sp>
        <p:nvSpPr>
          <p:cNvPr id="3" name="Text 1"/>
          <p:cNvSpPr/>
          <p:nvPr/>
        </p:nvSpPr>
        <p:spPr>
          <a:xfrm>
            <a:off x="658368" y="1207008"/>
            <a:ext cx="8229600" cy="457200"/>
          </a:xfrm>
          <a:prstGeom prst="rect">
            <a:avLst/>
          </a:prstGeom>
          <a:noFill/>
          <a:ln/>
        </p:spPr>
        <p:txBody>
          <a:bodyPr wrap="square" rtlCol="0" anchor="ctr"/>
          <a:lstStyle/>
          <a:p>
            <a:pPr marL="0" indent="0">
              <a:buNone/>
            </a:pPr>
            <a:r>
              <a:rPr lang="en-US" sz="1800" dirty="0">
                <a:solidFill>
                  <a:srgbClr val="5F7A4A"/>
                </a:solidFill>
                <a:latin typeface="Calibri" pitchFamily="34" charset="0"/>
                <a:ea typeface="Calibri" pitchFamily="34" charset="-122"/>
                <a:cs typeface="Calibri" pitchFamily="34" charset="-120"/>
              </a:rPr>
              <a:t>How a plant-eater stays safe</a:t>
            </a:r>
            <a:endParaRPr lang="en-US" sz="1800" dirty="0"/>
          </a:p>
        </p:txBody>
      </p:sp>
      <p:sp>
        <p:nvSpPr>
          <p:cNvPr id="6" name="Text 4"/>
          <p:cNvSpPr/>
          <p:nvPr/>
        </p:nvSpPr>
        <p:spPr>
          <a:xfrm>
            <a:off x="480182" y="4251960"/>
            <a:ext cx="3945128" cy="457200"/>
          </a:xfrm>
          <a:prstGeom prst="rect">
            <a:avLst/>
          </a:prstGeom>
          <a:noFill/>
          <a:ln/>
        </p:spPr>
        <p:txBody>
          <a:bodyPr wrap="square" lIns="0" tIns="0" rIns="0" bIns="0" rtlCol="0" anchor="ctr"/>
          <a:lstStyle/>
          <a:p>
            <a:pPr marL="0" indent="0" algn="ctr">
              <a:buNone/>
            </a:pPr>
            <a:r>
              <a:rPr lang="en-US" sz="2200" b="1" dirty="0">
                <a:solidFill>
                  <a:srgbClr val="22301F"/>
                </a:solidFill>
                <a:latin typeface="Bookman Old Style" pitchFamily="34" charset="0"/>
                <a:ea typeface="Bookman Old Style" pitchFamily="34" charset="-122"/>
                <a:cs typeface="Bookman Old Style" pitchFamily="34" charset="-120"/>
              </a:rPr>
              <a:t>Triceratops</a:t>
            </a:r>
            <a:endParaRPr lang="en-US" sz="2200" dirty="0"/>
          </a:p>
        </p:txBody>
      </p:sp>
      <p:sp>
        <p:nvSpPr>
          <p:cNvPr id="7" name="Text 5"/>
          <p:cNvSpPr/>
          <p:nvPr/>
        </p:nvSpPr>
        <p:spPr>
          <a:xfrm>
            <a:off x="480182" y="4754880"/>
            <a:ext cx="3945128" cy="1097280"/>
          </a:xfrm>
          <a:prstGeom prst="rect">
            <a:avLst/>
          </a:prstGeom>
          <a:noFill/>
          <a:ln/>
        </p:spPr>
        <p:txBody>
          <a:bodyPr wrap="square" lIns="0" tIns="0" rIns="0" bIns="0" rtlCol="0" anchor="ctr"/>
          <a:lstStyle/>
          <a:p>
            <a:pPr marL="0" indent="0" algn="ctr">
              <a:buNone/>
            </a:pPr>
            <a:r>
              <a:rPr lang="en-US" sz="1500" dirty="0">
                <a:solidFill>
                  <a:srgbClr val="3E4C3A"/>
                </a:solidFill>
                <a:latin typeface="Calibri" pitchFamily="34" charset="0"/>
                <a:ea typeface="Calibri" pitchFamily="34" charset="-122"/>
                <a:cs typeface="Calibri" pitchFamily="34" charset="-120"/>
              </a:rPr>
              <a:t>Three sharp horns and a huge bony frill around its neck.</a:t>
            </a:r>
            <a:endParaRPr lang="en-US" sz="1500" dirty="0"/>
          </a:p>
        </p:txBody>
      </p:sp>
      <p:sp>
        <p:nvSpPr>
          <p:cNvPr id="10" name="Text 8"/>
          <p:cNvSpPr/>
          <p:nvPr/>
        </p:nvSpPr>
        <p:spPr>
          <a:xfrm>
            <a:off x="4706368" y="4251960"/>
            <a:ext cx="3383280" cy="457200"/>
          </a:xfrm>
          <a:prstGeom prst="rect">
            <a:avLst/>
          </a:prstGeom>
          <a:noFill/>
          <a:ln/>
        </p:spPr>
        <p:txBody>
          <a:bodyPr wrap="square" lIns="0" tIns="0" rIns="0" bIns="0" rtlCol="0" anchor="ctr"/>
          <a:lstStyle/>
          <a:p>
            <a:pPr marL="0" indent="0" algn="ctr">
              <a:buNone/>
            </a:pPr>
            <a:r>
              <a:rPr lang="en-US" sz="2200" b="1" dirty="0">
                <a:solidFill>
                  <a:srgbClr val="22301F"/>
                </a:solidFill>
                <a:latin typeface="Bookman Old Style" pitchFamily="34" charset="0"/>
                <a:ea typeface="Bookman Old Style" pitchFamily="34" charset="-122"/>
                <a:cs typeface="Bookman Old Style" pitchFamily="34" charset="-120"/>
              </a:rPr>
              <a:t>Stegosaurus</a:t>
            </a:r>
            <a:endParaRPr lang="en-US" sz="2200" dirty="0"/>
          </a:p>
        </p:txBody>
      </p:sp>
      <p:sp>
        <p:nvSpPr>
          <p:cNvPr id="11" name="Text 9"/>
          <p:cNvSpPr/>
          <p:nvPr/>
        </p:nvSpPr>
        <p:spPr>
          <a:xfrm>
            <a:off x="4706368" y="4754880"/>
            <a:ext cx="3383280" cy="1097280"/>
          </a:xfrm>
          <a:prstGeom prst="rect">
            <a:avLst/>
          </a:prstGeom>
          <a:noFill/>
          <a:ln/>
        </p:spPr>
        <p:txBody>
          <a:bodyPr wrap="square" lIns="0" tIns="0" rIns="0" bIns="0" rtlCol="0" anchor="ctr"/>
          <a:lstStyle/>
          <a:p>
            <a:pPr marL="0" indent="0" algn="ctr">
              <a:buNone/>
            </a:pPr>
            <a:r>
              <a:rPr lang="en-US" sz="1500" dirty="0">
                <a:solidFill>
                  <a:srgbClr val="3E4C3A"/>
                </a:solidFill>
                <a:latin typeface="Calibri" pitchFamily="34" charset="0"/>
                <a:ea typeface="Calibri" pitchFamily="34" charset="-122"/>
                <a:cs typeface="Calibri" pitchFamily="34" charset="-120"/>
              </a:rPr>
              <a:t>Plates along its back and four long spikes on its tail.</a:t>
            </a:r>
            <a:endParaRPr lang="en-US" sz="1500" dirty="0"/>
          </a:p>
        </p:txBody>
      </p:sp>
      <p:sp>
        <p:nvSpPr>
          <p:cNvPr id="14" name="Text 12"/>
          <p:cNvSpPr/>
          <p:nvPr/>
        </p:nvSpPr>
        <p:spPr>
          <a:xfrm>
            <a:off x="8436740" y="4251960"/>
            <a:ext cx="3383280" cy="457200"/>
          </a:xfrm>
          <a:prstGeom prst="rect">
            <a:avLst/>
          </a:prstGeom>
          <a:noFill/>
          <a:ln/>
        </p:spPr>
        <p:txBody>
          <a:bodyPr wrap="square" lIns="0" tIns="0" rIns="0" bIns="0" rtlCol="0" anchor="ctr"/>
          <a:lstStyle/>
          <a:p>
            <a:pPr marL="0" indent="0" algn="ctr">
              <a:buNone/>
            </a:pPr>
            <a:r>
              <a:rPr lang="en-US" sz="2200" b="1" dirty="0">
                <a:solidFill>
                  <a:srgbClr val="22301F"/>
                </a:solidFill>
                <a:latin typeface="Bookman Old Style" pitchFamily="34" charset="0"/>
                <a:ea typeface="Bookman Old Style" pitchFamily="34" charset="-122"/>
                <a:cs typeface="Bookman Old Style" pitchFamily="34" charset="-120"/>
              </a:rPr>
              <a:t>Ankylosaurus</a:t>
            </a:r>
            <a:endParaRPr lang="en-US" sz="2200" dirty="0"/>
          </a:p>
        </p:txBody>
      </p:sp>
      <p:sp>
        <p:nvSpPr>
          <p:cNvPr id="15" name="Text 13"/>
          <p:cNvSpPr/>
          <p:nvPr/>
        </p:nvSpPr>
        <p:spPr>
          <a:xfrm>
            <a:off x="8436740" y="4754880"/>
            <a:ext cx="3383280" cy="1097280"/>
          </a:xfrm>
          <a:prstGeom prst="rect">
            <a:avLst/>
          </a:prstGeom>
          <a:noFill/>
          <a:ln/>
        </p:spPr>
        <p:txBody>
          <a:bodyPr wrap="square" lIns="0" tIns="0" rIns="0" bIns="0" rtlCol="0" anchor="ctr"/>
          <a:lstStyle/>
          <a:p>
            <a:pPr marL="0" indent="0" algn="ctr">
              <a:buNone/>
            </a:pPr>
            <a:r>
              <a:rPr lang="en-US" sz="1500" dirty="0">
                <a:solidFill>
                  <a:srgbClr val="3E4C3A"/>
                </a:solidFill>
                <a:latin typeface="Calibri" pitchFamily="34" charset="0"/>
                <a:ea typeface="Calibri" pitchFamily="34" charset="-122"/>
                <a:cs typeface="Calibri" pitchFamily="34" charset="-120"/>
              </a:rPr>
              <a:t>Covered in bone, with a heavy club at the end of its tail.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3D2B"/>
        </a:solidFill>
        <a:effectLst/>
      </p:bgPr>
    </p:bg>
    <p:spTree>
      <p:nvGrpSpPr>
        <p:cNvPr id="1" name=""/>
        <p:cNvGrpSpPr/>
        <p:nvPr/>
      </p:nvGrpSpPr>
      <p:grpSpPr>
        <a:xfrm>
          <a:off x="0" y="0"/>
          <a:ext cx="0" cy="0"/>
          <a:chOff x="0" y="0"/>
          <a:chExt cx="0" cy="0"/>
        </a:xfrm>
      </p:grpSpPr>
      <p:sp>
        <p:nvSpPr>
          <p:cNvPr id="2" name="Text 0"/>
          <p:cNvSpPr/>
          <p:nvPr/>
        </p:nvSpPr>
        <p:spPr>
          <a:xfrm>
            <a:off x="822960" y="1920240"/>
            <a:ext cx="6035040" cy="1463040"/>
          </a:xfrm>
          <a:prstGeom prst="rect">
            <a:avLst/>
          </a:prstGeom>
          <a:noFill/>
          <a:ln/>
        </p:spPr>
        <p:txBody>
          <a:bodyPr wrap="square" rtlCol="0" anchor="ctr"/>
          <a:lstStyle/>
          <a:p>
            <a:pPr marL="0" indent="0">
              <a:buNone/>
            </a:pPr>
            <a:r>
              <a:rPr lang="en-US" sz="4600" b="1" dirty="0">
                <a:solidFill>
                  <a:srgbClr val="FFFFFF"/>
                </a:solidFill>
                <a:latin typeface="Bookman Old Style" pitchFamily="34" charset="0"/>
                <a:ea typeface="Bookman Old Style" pitchFamily="34" charset="-122"/>
                <a:cs typeface="Bookman Old Style" pitchFamily="34" charset="-120"/>
              </a:rPr>
              <a:t>Birds are dinosaurs.</a:t>
            </a:r>
            <a:endParaRPr lang="en-US" sz="4600" dirty="0"/>
          </a:p>
        </p:txBody>
      </p:sp>
      <p:sp>
        <p:nvSpPr>
          <p:cNvPr id="3" name="Text 1"/>
          <p:cNvSpPr/>
          <p:nvPr/>
        </p:nvSpPr>
        <p:spPr>
          <a:xfrm>
            <a:off x="868680" y="3566160"/>
            <a:ext cx="5852160" cy="1280160"/>
          </a:xfrm>
          <a:prstGeom prst="rect">
            <a:avLst/>
          </a:prstGeom>
          <a:noFill/>
          <a:ln/>
        </p:spPr>
        <p:txBody>
          <a:bodyPr wrap="square" rtlCol="0" anchor="ctr"/>
          <a:lstStyle/>
          <a:p>
            <a:pPr marL="0" indent="0">
              <a:buNone/>
            </a:pPr>
            <a:r>
              <a:rPr lang="en-US" sz="1900" dirty="0">
                <a:solidFill>
                  <a:srgbClr val="97BC62"/>
                </a:solidFill>
                <a:latin typeface="Calibri" pitchFamily="34" charset="0"/>
                <a:ea typeface="Calibri" pitchFamily="34" charset="-122"/>
                <a:cs typeface="Calibri" pitchFamily="34" charset="-120"/>
              </a:rPr>
              <a:t>Sixty-six million years ago, almost all the dinosaurs disappeared.</a:t>
            </a:r>
            <a:endParaRPr lang="en-US" sz="1900" dirty="0"/>
          </a:p>
          <a:p>
            <a:pPr marL="0" indent="0">
              <a:buNone/>
            </a:pPr>
            <a:r>
              <a:rPr lang="en-US" sz="1900" dirty="0">
                <a:solidFill>
                  <a:srgbClr val="97BC62"/>
                </a:solidFill>
                <a:latin typeface="Calibri" pitchFamily="34" charset="0"/>
                <a:ea typeface="Calibri" pitchFamily="34" charset="-122"/>
                <a:cs typeface="Calibri" pitchFamily="34" charset="-120"/>
              </a:rPr>
              <a:t>One feathered group did not.</a:t>
            </a:r>
            <a:endParaRPr lang="en-US" sz="1900" dirty="0"/>
          </a:p>
        </p:txBody>
      </p:sp>
      <p:sp>
        <p:nvSpPr>
          <p:cNvPr id="4" name="Text 2"/>
          <p:cNvSpPr/>
          <p:nvPr/>
        </p:nvSpPr>
        <p:spPr>
          <a:xfrm>
            <a:off x="868680" y="4846320"/>
            <a:ext cx="5852160" cy="548640"/>
          </a:xfrm>
          <a:prstGeom prst="rect">
            <a:avLst/>
          </a:prstGeom>
          <a:noFill/>
          <a:ln/>
        </p:spPr>
        <p:txBody>
          <a:bodyPr wrap="square" rtlCol="0" anchor="ctr"/>
          <a:lstStyle/>
          <a:p>
            <a:pPr marL="0" indent="0">
              <a:buNone/>
            </a:pPr>
            <a:r>
              <a:rPr lang="en-US" sz="2000" i="1" dirty="0">
                <a:solidFill>
                  <a:srgbClr val="E8A33D"/>
                </a:solidFill>
                <a:latin typeface="Calibri" pitchFamily="34" charset="0"/>
                <a:ea typeface="Calibri" pitchFamily="34" charset="-122"/>
                <a:cs typeface="Calibri" pitchFamily="34" charset="-120"/>
              </a:rPr>
              <a:t>Every pigeon outside is a living dinosaur.</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832</Words>
  <Application>Microsoft Office PowerPoint</Application>
  <PresentationFormat>Widescreen</PresentationFormat>
  <Paragraphs>39</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Michael Naftalishen</cp:lastModifiedBy>
  <cp:revision>5</cp:revision>
  <dcterms:created xsi:type="dcterms:W3CDTF">2026-07-29T08:15:54Z</dcterms:created>
  <dcterms:modified xsi:type="dcterms:W3CDTF">2026-08-09T20:28:16Z</dcterms:modified>
</cp:coreProperties>
</file>